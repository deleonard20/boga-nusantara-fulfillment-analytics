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B2A4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% of Customers</c:v>
                  </c:pt>
                  <c:pt idx="1">
                    <c:v>% of Revenue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14.6</c:v>
                </c:pt>
                <c:pt idx="1">
                  <c:v>34.3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50" u="none">
                  <a:solidFill>
                    <a:srgbClr val="1B2A4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8DEE4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3.903999999999996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B2A4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Federal Shipping</c:v>
                  </c:pt>
                  <c:pt idx="1">
                    <c:v>Speedy Express</c:v>
                  </c:pt>
                  <c:pt idx="2">
                    <c:v>United Package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3.5</c:v>
                </c:pt>
                <c:pt idx="1">
                  <c:v>4.8</c:v>
                </c:pt>
                <c:pt idx="2">
                  <c:v>4.9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50" u="none">
                  <a:solidFill>
                    <a:srgbClr val="1B2A4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8DEE4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.272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B2A4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77D0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North America</c:v>
                  </c:pt>
                  <c:pt idx="1">
                    <c:v>Europe</c:v>
                  </c:pt>
                  <c:pt idx="2">
                    <c:v>South America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4.4</c:v>
                </c:pt>
                <c:pt idx="1">
                  <c:v>5.8</c:v>
                </c:pt>
                <c:pt idx="2">
                  <c:v>11.2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50" u="none">
                  <a:solidFill>
                    <a:srgbClr val="1B2A4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8DEE4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.335999999999999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B2A4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Federal Shipping</c:v>
                  </c:pt>
                  <c:pt idx="1">
                    <c:v>Speedy Express</c:v>
                  </c:pt>
                  <c:pt idx="2">
                    <c:v>United Package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3.5</c:v>
                </c:pt>
                <c:pt idx="1">
                  <c:v>4.8</c:v>
                </c:pt>
                <c:pt idx="2">
                  <c:v>4.9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50" u="none">
                  <a:solidFill>
                    <a:srgbClr val="1B2A4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8DEE4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.272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B2A4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77D0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North America</c:v>
                  </c:pt>
                  <c:pt idx="1">
                    <c:v>Europe</c:v>
                  </c:pt>
                  <c:pt idx="2">
                    <c:v>South America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4.4</c:v>
                </c:pt>
                <c:pt idx="1">
                  <c:v>5.8</c:v>
                </c:pt>
                <c:pt idx="2">
                  <c:v>11.2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50" u="none">
                  <a:solidFill>
                    <a:srgbClr val="1B2A4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8DEE4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.335999999999999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914400"/>
            <a:ext cx="2560320" cy="2560320"/>
          </a:xfrm>
          <a:prstGeom prst="ellipse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320040"/>
            <a:ext cx="1234440" cy="123444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502920"/>
            <a:ext cx="502920" cy="50292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463040" y="3406140"/>
            <a:ext cx="2926080" cy="2926080"/>
          </a:xfrm>
          <a:prstGeom prst="ellipse">
            <a:avLst/>
          </a:prstGeom>
          <a:solidFill>
            <a:srgbClr val="1C7293">
              <a:alpha val="1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173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50" kern="0" dirty="0">
                <a:solidFill>
                  <a:srgbClr val="9F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ANALYTICS PROJECT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78308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Fulfillment &amp;</a:t>
            </a:r>
            <a:endParaRPr lang="en-US" sz="40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Risk Analysis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85800" y="333756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50" i="1" dirty="0">
                <a:solidFill>
                  <a:srgbClr val="D7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Key Drivers Behind Delivery Delays &amp; Recommendations to Raise On-Time Delivery from 93% to 96%+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548640" y="45765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F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PT. Boga Nusantara   |   Deleonard Simanjorang   |  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Company !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 and what we deliver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794760" cy="2880360"/>
          </a:xfrm>
          <a:prstGeom prst="roundRect">
            <a:avLst>
              <a:gd name="adj" fmla="val 2222"/>
            </a:avLst>
          </a:prstGeom>
          <a:solidFill>
            <a:srgbClr val="F5F7F9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545336"/>
            <a:ext cx="3465576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3030322"/>
            <a:ext cx="3465576" cy="1209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 distributed — Beverages, Dairy, Confections, Meat &amp; Poultry, Seafood, Produce, Condiments, and Grains/Cereals.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26280" y="1417320"/>
            <a:ext cx="4069080" cy="1371600"/>
          </a:xfrm>
          <a:prstGeom prst="roundRect">
            <a:avLst>
              <a:gd name="adj" fmla="val 4667"/>
            </a:avLst>
          </a:prstGeom>
          <a:solidFill>
            <a:srgbClr val="F5F7F9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9160" y="153619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09160" y="1792224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Boga Nusantara is an Indonesia-based B2B distributor and exporter of specialty food &amp; beverage products, supplying retailers, specialty grocers, and HORECA partners across Europe, North America, and South America.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26280" y="2926080"/>
            <a:ext cx="4069080" cy="1371600"/>
          </a:xfrm>
          <a:prstGeom prst="roundRect">
            <a:avLst>
              <a:gd name="adj" fmla="val 4667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25400" dir="5400000">
              <a:srgbClr val="1A1A2E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09160" y="304495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F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MISSION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09160" y="3300984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every order accurately and on time — building lasting trust with every business partner, in every market we serve.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45765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PT. Boga Nusantara   |   Deleonard Simanjorang   |   2026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458200" y="47320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 findings from this analysis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777240"/>
          </a:xfrm>
          <a:prstGeom prst="roundRect">
            <a:avLst>
              <a:gd name="adj" fmla="val 8235"/>
            </a:avLst>
          </a:prstGeom>
          <a:solidFill>
            <a:srgbClr val="E7F1F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44752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0E4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Boga Nusantara delivers 93.0% of orders on time — inside the ‘good’ industry tier, but short of the 95%+ benchmark for excellent distribution performance. More importantly, delivery risk is not evenly spread: a small group of repeat-affected customers carries an outsized share of revenue exposure.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80467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10000"/>
              </a:lnSpc>
              <a:spcAft>
                <a:spcPts val="700"/>
              </a:spcAft>
              <a:buSzPct val="100000"/>
              <a:buChar char="●"/>
            </a:pPr>
            <a:r>
              <a:rPr lang="en-US" sz="11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830 orders (2,155 lines) across 89 B2B customers, 3 carriers, and 21 countries — analyzed in Python and Power BI.</a:t>
            </a:r>
            <a:endParaRPr lang="en-US" sz="1150" dirty="0"/>
          </a:p>
          <a:p>
            <a:pPr algn="l" marL="228600" indent="-228600">
              <a:lnSpc>
                <a:spcPct val="110000"/>
              </a:lnSpc>
              <a:spcAft>
                <a:spcPts val="700"/>
              </a:spcAft>
              <a:buSzPct val="100000"/>
              <a:buChar char="●"/>
            </a:pPr>
            <a:r>
              <a:rPr lang="en-US" sz="11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customers (14.6% of the base) have 2+ late/unconfirmed shipments — yet represent $236K/year, 34.3% of total revenue.</a:t>
            </a:r>
            <a:endParaRPr lang="en-US" sz="1150" dirty="0"/>
          </a:p>
          <a:p>
            <a:pPr algn="l" marL="228600" indent="-228600">
              <a:lnSpc>
                <a:spcPct val="110000"/>
              </a:lnSpc>
              <a:spcAft>
                <a:spcPts val="700"/>
              </a:spcAft>
              <a:buSzPct val="100000"/>
              <a:buChar char="●"/>
            </a:pPr>
            <a:r>
              <a:rPr lang="en-US" sz="11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reliability is uneven: Federal Shipping is best (3.5% late); Speedy Express takes 45% longer to recover once late (8.1 vs 5.6 days).</a:t>
            </a:r>
            <a:endParaRPr lang="en-US" sz="1150" dirty="0"/>
          </a:p>
          <a:p>
            <a:pPr algn="l" marL="228600" indent="-228600">
              <a:lnSpc>
                <a:spcPct val="110000"/>
              </a:lnSpc>
              <a:spcAft>
                <a:spcPts val="700"/>
              </a:spcAft>
              <a:buSzPct val="100000"/>
              <a:buChar char="●"/>
            </a:pPr>
            <a:r>
              <a:rPr lang="en-US" sz="11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America takes 11.2 days to recover from a delay on average — over 2.5x North America’s 4.4 days.</a:t>
            </a:r>
            <a:endParaRPr lang="en-US" sz="1150" dirty="0"/>
          </a:p>
          <a:p>
            <a:pPr algn="l" marL="228600" indent="-228600">
              <a:lnSpc>
                <a:spcPct val="110000"/>
              </a:lnSpc>
              <a:spcAft>
                <a:spcPts val="700"/>
              </a:spcAft>
              <a:buSzPct val="100000"/>
              <a:buChar char="●"/>
            </a:pPr>
            <a:r>
              <a:rPr lang="en-US" sz="11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recommendations aim to raise on-time delivery from 93% to 96%+ in 6 months, monitored via a live Power BI dashboard.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45765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PT. Boga Nusantara   |   Deleonard Simanjorang   |   2026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458200" y="47320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$236K in Annual Revenue Is Exposed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delivery reliability is a revenue priority, not just an ops metric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560320" cy="1234440"/>
          </a:xfrm>
          <a:prstGeom prst="roundRect">
            <a:avLst>
              <a:gd name="adj" fmla="val 5185"/>
            </a:avLst>
          </a:prstGeom>
          <a:solidFill>
            <a:srgbClr val="F5F7F9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545336"/>
            <a:ext cx="223113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93.0%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13232" y="2108606"/>
            <a:ext cx="2231136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on-time delivery rate</a:t>
            </a:r>
            <a:endParaRPr lang="en-US" sz="10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(target: 96%+ within 6 months)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91840" y="1417320"/>
            <a:ext cx="2560320" cy="1234440"/>
          </a:xfrm>
          <a:prstGeom prst="roundRect">
            <a:avLst>
              <a:gd name="adj" fmla="val 5185"/>
            </a:avLst>
          </a:prstGeom>
          <a:solidFill>
            <a:srgbClr val="F5F7F9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56432" y="1545336"/>
            <a:ext cx="223113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$236K/yr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3456432" y="2108606"/>
            <a:ext cx="2231136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concentrated in repeat-affected accounts (34.3% of total revenue, annualized)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35040" y="1417320"/>
            <a:ext cx="2560320" cy="1234440"/>
          </a:xfrm>
          <a:prstGeom prst="roundRect">
            <a:avLst>
              <a:gd name="adj" fmla="val 5185"/>
            </a:avLst>
          </a:prstGeom>
          <a:solidFill>
            <a:srgbClr val="F5F7F9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99632" y="1545336"/>
            <a:ext cx="223113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of 89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199632" y="2108606"/>
            <a:ext cx="2231136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 2+ delivery failures (14.6% of customer base)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2834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exposure = annualized net sales from customers with ≥ 2 late/pending shipments among ≥ 3 orders placed. This reflects revenue concentrated in accounts most likely to churn if reliability doesn’t improve — not revenue already lost.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8046720" cy="1051560"/>
          </a:xfrm>
          <a:prstGeom prst="roundRect">
            <a:avLst>
              <a:gd name="adj" fmla="val 6087"/>
            </a:avLst>
          </a:prstGeom>
          <a:solidFill>
            <a:srgbClr val="1B2A4A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49808" y="3575304"/>
            <a:ext cx="7644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9F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RISK?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9808" y="3867912"/>
            <a:ext cx="764438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research shows up to 50% of B2B buyers switch vendors after a poor service experience, and 89% cite service reliability as a primary reason to stay. Protecting the $236K/year tied to repeat-affected accounts is the single highest-leverage lever available.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5765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PT. Boga Nusantara   |   Deleonard Simanjorang   |   2026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458200" y="47320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914400"/>
            <a:ext cx="2560320" cy="2560320"/>
          </a:xfrm>
          <a:prstGeom prst="ellipse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320040"/>
            <a:ext cx="1234440" cy="123444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502920"/>
            <a:ext cx="502920" cy="50292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188720" y="3680460"/>
            <a:ext cx="2377440" cy="2377440"/>
          </a:xfrm>
          <a:prstGeom prst="ellipse">
            <a:avLst/>
          </a:prstGeom>
          <a:solidFill>
            <a:srgbClr val="1C7293">
              <a:alpha val="1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288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9F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ANALYTICS PROJECT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Objectives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48640" y="45765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F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PT. Boga Nusantara   |   Deleonard Simanjorang   |   2026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458200" y="47320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Background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Boga Nusantara against the industry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046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●"/>
            </a:pPr>
            <a:r>
              <a:rPr lang="en-US" sz="13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Boga Nusantara’s on-time delivery rate stands at 93.0% — within the ‘good’ range for retail/distribution (93–95%), but below the 95%+ threshold considered excellent industry-wide.</a:t>
            </a:r>
            <a:endParaRPr lang="en-US" sz="1300" dirty="0"/>
          </a:p>
          <a:p>
            <a:pPr algn="l"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●"/>
            </a:pPr>
            <a:r>
              <a:rPr lang="en-US" sz="13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96% target reflects the excellent-tier threshold used across e-commerce and distribution benchmarks — closing this gap protects revenue and strengthens trust in international markets.</a:t>
            </a:r>
            <a:endParaRPr lang="en-US" sz="1300" dirty="0"/>
          </a:p>
          <a:p>
            <a:pPr algn="l"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●"/>
            </a:pPr>
            <a:r>
              <a:rPr lang="en-US" sz="13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Reaching 96%+ means converting roughly half of today’s at-risk shipments into on-time deliveries, directly shrinking the pool of repeat-affected, high-churn-risk accounts.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ON-TIME DELIVERY RATE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3493008"/>
            <a:ext cx="2560320" cy="1143000"/>
          </a:xfrm>
          <a:prstGeom prst="roundRect">
            <a:avLst>
              <a:gd name="adj" fmla="val 5600"/>
            </a:avLst>
          </a:prstGeom>
          <a:solidFill>
            <a:srgbClr val="F5F7F9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3621024"/>
            <a:ext cx="223113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95%+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713232" y="4133088"/>
            <a:ext cx="2231136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on-time delivery benchmark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3493008"/>
            <a:ext cx="2560320" cy="1143000"/>
          </a:xfrm>
          <a:prstGeom prst="roundRect">
            <a:avLst>
              <a:gd name="adj" fmla="val 5600"/>
            </a:avLst>
          </a:prstGeom>
          <a:solidFill>
            <a:srgbClr val="F5F7F9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56432" y="3621024"/>
            <a:ext cx="223113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C77D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93–95%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3456432" y="4133088"/>
            <a:ext cx="2231136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&amp; distribution ‘good’ tier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3493008"/>
            <a:ext cx="2560320" cy="1143000"/>
          </a:xfrm>
          <a:prstGeom prst="roundRect">
            <a:avLst>
              <a:gd name="adj" fmla="val 5600"/>
            </a:avLst>
          </a:prstGeom>
          <a:solidFill>
            <a:srgbClr val="F5F7F9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99632" y="3621024"/>
            <a:ext cx="223113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93.0%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6199632" y="4133088"/>
            <a:ext cx="2231136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Boga Nusantara current rate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45765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PT. Boga Nusantara   |   Deleonard Simanjorang   |   2026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458200" y="47320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Goals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statement, scope, and tools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931920" cy="1481328"/>
          </a:xfrm>
          <a:prstGeom prst="roundRect">
            <a:avLst>
              <a:gd name="adj" fmla="val 4321"/>
            </a:avLst>
          </a:prstGeom>
          <a:solidFill>
            <a:srgbClr val="F5F7F9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563624"/>
            <a:ext cx="3529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49808" y="1856232"/>
            <a:ext cx="3529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Boga Nusantara’s on-time delivery rate is 93.0% — acceptable, but 2–3 points below the excellence threshold (95%+), with risk heavily concentrated in a small set of repeat-affected accounts.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1417320"/>
            <a:ext cx="3931920" cy="1481328"/>
          </a:xfrm>
          <a:prstGeom prst="roundRect">
            <a:avLst>
              <a:gd name="adj" fmla="val 4321"/>
            </a:avLst>
          </a:prstGeom>
          <a:solidFill>
            <a:srgbClr val="E7F1F3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64608" y="1563624"/>
            <a:ext cx="3529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0E4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864608" y="1856232"/>
            <a:ext cx="3529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0E4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where and why delivery failures concentrate, and recommend data-driven fixes to raise on-time delivery from 93% to 96%+ within 6 months — monitored via a real-time dashboard.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3931920" cy="1481328"/>
          </a:xfrm>
          <a:prstGeom prst="roundRect">
            <a:avLst>
              <a:gd name="adj" fmla="val 4321"/>
            </a:avLst>
          </a:prstGeom>
          <a:solidFill>
            <a:srgbClr val="F5F7F9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9808" y="3209544"/>
            <a:ext cx="3529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49808" y="3502152"/>
            <a:ext cx="3529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&amp; shipments from Dec 2023–Oct 2025: 830 orders / 2,155 lines, 89 customers, 3 carriers, 8 categories, 21 countries. Evaluated at order level across Shipper, Customer, and Country/Region.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63440" y="3063240"/>
            <a:ext cx="3931920" cy="1481328"/>
          </a:xfrm>
          <a:prstGeom prst="roundRect">
            <a:avLst>
              <a:gd name="adj" fmla="val 4321"/>
            </a:avLst>
          </a:prstGeom>
          <a:solidFill>
            <a:srgbClr val="E7F1F3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64608" y="3209544"/>
            <a:ext cx="3529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0E4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64608" y="3502152"/>
            <a:ext cx="3529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0E4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operations, inventory availability, and product returns were not analyzed.</a:t>
            </a:r>
            <a:endParaRPr lang="en-US" sz="1150" dirty="0"/>
          </a:p>
          <a:p>
            <a:pPr algn="l" indent="0" marL="0">
              <a:lnSpc>
                <a:spcPct val="116000"/>
              </a:lnSpc>
              <a:buNone/>
            </a:pPr>
            <a:endParaRPr lang="en-US" sz="11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0E4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Used: Python (cleaning &amp; analysis), Power BI (dashboard &amp; monitoring)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45765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PT. Boga Nusantara   |   Deleonard Simanjorang   |   2026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458200" y="47320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5-step path from raw data to dashboard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31443" y="1600200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1031443" y="1600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258568"/>
            <a:ext cx="14776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1477670" cy="1417320"/>
          </a:xfrm>
          <a:prstGeom prst="roundRect">
            <a:avLst>
              <a:gd name="adj" fmla="val 3871"/>
            </a:avLst>
          </a:prstGeom>
          <a:solidFill>
            <a:srgbClr val="F5F7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971800"/>
            <a:ext cx="12582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business problem &amp; SMART objective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" y="3959352"/>
            <a:ext cx="12582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framing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008022" y="1581912"/>
            <a:ext cx="201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673706" y="1600200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2673706" y="1600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190902" y="2258568"/>
            <a:ext cx="14776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Cleaning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190902" y="2880360"/>
            <a:ext cx="1477670" cy="1417320"/>
          </a:xfrm>
          <a:prstGeom prst="roundRect">
            <a:avLst>
              <a:gd name="adj" fmla="val 3871"/>
            </a:avLst>
          </a:prstGeom>
          <a:solidFill>
            <a:srgbClr val="F5F7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00630" y="2971800"/>
            <a:ext cx="12582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 to order level &amp; validate shipping logic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300630" y="3959352"/>
            <a:ext cx="12582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0285" y="1581912"/>
            <a:ext cx="201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315968" y="1600200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4315968" y="1600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833165" y="2258568"/>
            <a:ext cx="14776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833165" y="2880360"/>
            <a:ext cx="1477670" cy="1417320"/>
          </a:xfrm>
          <a:prstGeom prst="roundRect">
            <a:avLst>
              <a:gd name="adj" fmla="val 3871"/>
            </a:avLst>
          </a:prstGeom>
          <a:solidFill>
            <a:srgbClr val="F5F7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42893" y="2971800"/>
            <a:ext cx="12582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fulfillment patterns &amp; key drivers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942893" y="3959352"/>
            <a:ext cx="12582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SQL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292547" y="1581912"/>
            <a:ext cx="201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958230" y="1600200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5958230" y="1600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475427" y="2258568"/>
            <a:ext cx="14776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&amp;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75427" y="2880360"/>
            <a:ext cx="1477670" cy="1417320"/>
          </a:xfrm>
          <a:prstGeom prst="roundRect">
            <a:avLst>
              <a:gd name="adj" fmla="val 3871"/>
            </a:avLst>
          </a:prstGeom>
          <a:solidFill>
            <a:srgbClr val="F5F7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85155" y="2971800"/>
            <a:ext cx="12582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findings into actionable recommendations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85155" y="3959352"/>
            <a:ext cx="12582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934810" y="1581912"/>
            <a:ext cx="201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600493" y="160020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3" name="Text 31"/>
          <p:cNvSpPr/>
          <p:nvPr/>
        </p:nvSpPr>
        <p:spPr>
          <a:xfrm>
            <a:off x="7600493" y="1600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117690" y="2258568"/>
            <a:ext cx="14776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117690" y="2880360"/>
            <a:ext cx="1477670" cy="1417320"/>
          </a:xfrm>
          <a:prstGeom prst="roundRect">
            <a:avLst>
              <a:gd name="adj" fmla="val 3871"/>
            </a:avLst>
          </a:prstGeom>
          <a:solidFill>
            <a:srgbClr val="F5F7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27418" y="2971800"/>
            <a:ext cx="12582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KPI monitoring dashboard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227418" y="3959352"/>
            <a:ext cx="12582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8640" y="45765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PT. Boga Nusantara   |   Deleonard Simanjorang   |   2026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458200" y="47320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914400"/>
            <a:ext cx="2560320" cy="2560320"/>
          </a:xfrm>
          <a:prstGeom prst="ellipse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320040"/>
            <a:ext cx="1234440" cy="123444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502920"/>
            <a:ext cx="502920" cy="50292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188720" y="3680460"/>
            <a:ext cx="2377440" cy="2377440"/>
          </a:xfrm>
          <a:prstGeom prst="ellipse">
            <a:avLst/>
          </a:prstGeom>
          <a:solidFill>
            <a:srgbClr val="1C7293">
              <a:alpha val="1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288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9F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ANALYTICS PROJECT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Dive Analysis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48640" y="45765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F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PT. Boga Nusantara   |   Deleonard Simanjorang   |   2026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458200" y="47320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ANALYSIS — FINDING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Concentration Risk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6070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delivery risk really concentrates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3794760" cy="1600200"/>
          </a:xfrm>
          <a:prstGeom prst="roundRect">
            <a:avLst>
              <a:gd name="adj" fmla="val 4000"/>
            </a:avLst>
          </a:prstGeom>
          <a:solidFill>
            <a:srgbClr val="FBEAE8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627632"/>
            <a:ext cx="3392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8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49808" y="1920240"/>
            <a:ext cx="339242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8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14.6% of customers (13 of 89) generate 34.3% of total revenue ($236K/year) while having experienced 2 or more late or unconfirmed shipments.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3794760" cy="1417320"/>
          </a:xfrm>
          <a:prstGeom prst="roundRect">
            <a:avLst>
              <a:gd name="adj" fmla="val 4516"/>
            </a:avLst>
          </a:prstGeom>
          <a:solidFill>
            <a:srgbClr val="F5F7F9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49808" y="3392424"/>
            <a:ext cx="3392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3685032"/>
            <a:ext cx="339242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risk isn’t evenly distributed — it’s concentrated in a small, high-value segment. Losing even a few of these accounts would have an outsized revenue impact relative to their headcount.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1481328"/>
            <a:ext cx="4023360" cy="3182112"/>
          </a:xfrm>
          <a:prstGeom prst="roundRect">
            <a:avLst>
              <a:gd name="adj" fmla="val 201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16093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Segment: Customers vs. Revenue Share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4709160" y="1865376"/>
          <a:ext cx="374904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/>
          <p:nvPr/>
        </p:nvSpPr>
        <p:spPr>
          <a:xfrm>
            <a:off x="548640" y="45765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PT. Boga Nusantara   |   Deleonard Simanjorang   |   2026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458200" y="47320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ANALYSIS — FINDING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Carrier Performance Gap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6070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delivering it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3794760" cy="1600200"/>
          </a:xfrm>
          <a:prstGeom prst="roundRect">
            <a:avLst>
              <a:gd name="adj" fmla="val 4000"/>
            </a:avLst>
          </a:prstGeom>
          <a:solidFill>
            <a:srgbClr val="FBEAE8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627632"/>
            <a:ext cx="3392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8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49808" y="1920240"/>
            <a:ext cx="339242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8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Shipping is the most reliable carrier (3.5% late), while United Package has the highest late frequency (4.9%) and Speedy Express takes 45% longer to recover once late (8.1 vs 5.6 days avg.).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3794760" cy="1417320"/>
          </a:xfrm>
          <a:prstGeom prst="roundRect">
            <a:avLst>
              <a:gd name="adj" fmla="val 4516"/>
            </a:avLst>
          </a:prstGeom>
          <a:solidFill>
            <a:srgbClr val="F5F7F9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49808" y="3392424"/>
            <a:ext cx="3392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3685032"/>
            <a:ext cx="339242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and severity are two different problems — United Package needs a fix for consistency, Speedy Express needs a fix for recovery speed. A single ‘switch carriers’ response would miss half the issue.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1481328"/>
            <a:ext cx="4023360" cy="3182112"/>
          </a:xfrm>
          <a:prstGeom prst="roundRect">
            <a:avLst>
              <a:gd name="adj" fmla="val 201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16093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Rate by Carrier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4709160" y="1865376"/>
          <a:ext cx="374904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/>
          <p:nvPr/>
        </p:nvSpPr>
        <p:spPr>
          <a:xfrm>
            <a:off x="548640" y="45765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PT. Boga Nusantara   |   Deleonard Simanjorang   |   2026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458200" y="47320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ANALYSIS — FINDING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Delivery Severity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6070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concentrates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3794760" cy="1600200"/>
          </a:xfrm>
          <a:prstGeom prst="roundRect">
            <a:avLst>
              <a:gd name="adj" fmla="val 4000"/>
            </a:avLst>
          </a:prstGeom>
          <a:solidFill>
            <a:srgbClr val="FBEAE8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627632"/>
            <a:ext cx="3392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8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49808" y="1920240"/>
            <a:ext cx="339242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8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shipments to South America are late, they take 11.2 days on average to arrive — over 2.5x North America’s 4.4 days — even though South America isn’t the region with the most frequent delays.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3794760" cy="1417320"/>
          </a:xfrm>
          <a:prstGeom prst="roundRect">
            <a:avLst>
              <a:gd name="adj" fmla="val 4516"/>
            </a:avLst>
          </a:prstGeom>
          <a:solidFill>
            <a:srgbClr val="F5F7F9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49808" y="3392424"/>
            <a:ext cx="3392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3685032"/>
            <a:ext cx="339242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promises may be systematically unrealistic for certain international routes. This is a lead-time design problem, not just an execution problem — the fix may be adjusting promised dates, not just working harder.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1481328"/>
            <a:ext cx="4023360" cy="3182112"/>
          </a:xfrm>
          <a:prstGeom prst="roundRect">
            <a:avLst>
              <a:gd name="adj" fmla="val 201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16093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Delay Severity by Region (days late)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4709160" y="1865376"/>
          <a:ext cx="374904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/>
          <p:nvPr/>
        </p:nvSpPr>
        <p:spPr>
          <a:xfrm>
            <a:off x="548640" y="45765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PT. Boga Nusantara   |   Deleonard Simanjorang   |   2026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458200" y="47320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Fulfillment Risk Dashboard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track progress in real time — Power BI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2572512" cy="749808"/>
          </a:xfrm>
          <a:prstGeom prst="roundRect">
            <a:avLst>
              <a:gd name="adj" fmla="val 8537"/>
            </a:avLst>
          </a:prstGeom>
          <a:solidFill>
            <a:srgbClr val="F5F7F9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481328"/>
            <a:ext cx="224332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13232" y="1773204"/>
            <a:ext cx="2243328" cy="314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85744" y="1353312"/>
            <a:ext cx="2572512" cy="749808"/>
          </a:xfrm>
          <a:prstGeom prst="roundRect">
            <a:avLst>
              <a:gd name="adj" fmla="val 8537"/>
            </a:avLst>
          </a:prstGeom>
          <a:solidFill>
            <a:srgbClr val="F5F7F9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50336" y="1481328"/>
            <a:ext cx="224332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93.0%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50336" y="1773204"/>
            <a:ext cx="2243328" cy="314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 Rate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22848" y="1353312"/>
            <a:ext cx="2572512" cy="749808"/>
          </a:xfrm>
          <a:prstGeom prst="roundRect">
            <a:avLst>
              <a:gd name="adj" fmla="val 8537"/>
            </a:avLst>
          </a:prstGeom>
          <a:solidFill>
            <a:srgbClr val="F5F7F9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87440" y="1481328"/>
            <a:ext cx="224332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$236K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187440" y="1773204"/>
            <a:ext cx="2243328" cy="314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at Risk / Year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249424"/>
            <a:ext cx="393192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2377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Rate by Carrier</a:t>
            </a:r>
            <a:endParaRPr lang="en-US" sz="12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85800" y="2633472"/>
          <a:ext cx="3657600" cy="8869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Shape 13"/>
          <p:cNvSpPr/>
          <p:nvPr/>
        </p:nvSpPr>
        <p:spPr>
          <a:xfrm>
            <a:off x="4663440" y="2249424"/>
            <a:ext cx="393192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4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846320" y="2377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Delay by Region (days)</a:t>
            </a:r>
            <a:endParaRPr lang="en-US" sz="1200" dirty="0"/>
          </a:p>
        </p:txBody>
      </p:sp>
      <p:graphicFrame>
        <p:nvGraphicFramePr>
          <p:cNvPr id="18" name="Chart 1" descr=""/>
          <p:cNvGraphicFramePr/>
          <p:nvPr/>
        </p:nvGraphicFramePr>
        <p:xfrm>
          <a:off x="4800600" y="2633472"/>
          <a:ext cx="3657600" cy="8869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Shape 15"/>
          <p:cNvSpPr/>
          <p:nvPr/>
        </p:nvSpPr>
        <p:spPr>
          <a:xfrm>
            <a:off x="548640" y="3794760"/>
            <a:ext cx="8046720" cy="658368"/>
          </a:xfrm>
          <a:prstGeom prst="roundRect">
            <a:avLst>
              <a:gd name="adj" fmla="val 9722"/>
            </a:avLst>
          </a:prstGeom>
          <a:solidFill>
            <a:srgbClr val="1B2A4A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4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749808" y="3941064"/>
            <a:ext cx="7644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Goal:  Track on-time delivery toward 96%+, drilled down by carrier, region &amp; customer.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548640" y="45765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PT. Boga Nusantara   |   Deleonard Simanjorang   |   2026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8458200" y="47320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914400"/>
            <a:ext cx="2560320" cy="2560320"/>
          </a:xfrm>
          <a:prstGeom prst="ellipse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320040"/>
            <a:ext cx="1234440" cy="123444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502920"/>
            <a:ext cx="502920" cy="50292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188720" y="3680460"/>
            <a:ext cx="2377440" cy="2377440"/>
          </a:xfrm>
          <a:prstGeom prst="ellipse">
            <a:avLst/>
          </a:prstGeom>
          <a:solidFill>
            <a:srgbClr val="1C7293">
              <a:alpha val="1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288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9F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ANALYTICS PROJECT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&amp; Recommendations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48640" y="45765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F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PT. Boga Nusantara   |   Deleonard Simanjorang   |   2026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458200" y="47320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&amp; RECOMMENDATIONS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#1 — Customer Concentration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6070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the accounts that matter most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794760" cy="1572768"/>
          </a:xfrm>
          <a:prstGeom prst="roundRect">
            <a:avLst>
              <a:gd name="adj" fmla="val 4070"/>
            </a:avLst>
          </a:prstGeom>
          <a:solidFill>
            <a:srgbClr val="F5F7F9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545336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HAPPENS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1819656"/>
            <a:ext cx="34290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8000"/>
              </a:lnSpc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systematic flag for repeat delivery failures</a:t>
            </a:r>
            <a:endParaRPr lang="en-US" sz="1050" dirty="0"/>
          </a:p>
          <a:p>
            <a:pPr algn="l" marL="177800" indent="-177800">
              <a:lnSpc>
                <a:spcPct val="108000"/>
              </a:lnSpc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ownership split across sales &amp; ops</a:t>
            </a:r>
            <a:endParaRPr lang="en-US" sz="1050" dirty="0"/>
          </a:p>
          <a:p>
            <a:pPr algn="l" marL="177800" indent="-177800">
              <a:lnSpc>
                <a:spcPct val="108000"/>
              </a:lnSpc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recovery is reactive, not proactive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3136392"/>
            <a:ext cx="3794760" cy="1362456"/>
          </a:xfrm>
          <a:prstGeom prst="roundRect">
            <a:avLst>
              <a:gd name="adj" fmla="val 4698"/>
            </a:avLst>
          </a:prstGeom>
          <a:solidFill>
            <a:srgbClr val="FBEAE8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49808" y="3282696"/>
            <a:ext cx="3392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8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IF UNADDRESSED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3575304"/>
            <a:ext cx="339242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8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$236K/year stays exposed. B2B research shows up to 50% of buyers switch vendors after poor service — losing just 2–3 of these 13 accounts risks $50–70K/year.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0" y="141732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0" y="1691640"/>
            <a:ext cx="4023360" cy="786384"/>
          </a:xfrm>
          <a:prstGeom prst="roundRect">
            <a:avLst>
              <a:gd name="adj" fmla="val 6977"/>
            </a:avLst>
          </a:prstGeom>
          <a:solidFill>
            <a:srgbClr val="E7F1F3"/>
          </a:solidFill>
          <a:ln/>
        </p:spPr>
      </p:sp>
      <p:sp>
        <p:nvSpPr>
          <p:cNvPr id="13" name="Text 11"/>
          <p:cNvSpPr/>
          <p:nvPr/>
        </p:nvSpPr>
        <p:spPr>
          <a:xfrm>
            <a:off x="4736592" y="1755648"/>
            <a:ext cx="3694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Health Monitoring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36592" y="1965960"/>
            <a:ext cx="3694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any customer after a 2nd late/pending shipment in a rolling 6-month window; route to a dedicated account owner.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36592" y="2286000"/>
            <a:ext cx="36941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Customer risk scorecard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0" y="2587752"/>
            <a:ext cx="4023360" cy="786384"/>
          </a:xfrm>
          <a:prstGeom prst="roundRect">
            <a:avLst>
              <a:gd name="adj" fmla="val 6977"/>
            </a:avLst>
          </a:prstGeom>
          <a:solidFill>
            <a:srgbClr val="E7F1F3"/>
          </a:solidFill>
          <a:ln/>
        </p:spPr>
      </p:sp>
      <p:sp>
        <p:nvSpPr>
          <p:cNvPr id="17" name="Text 15"/>
          <p:cNvSpPr/>
          <p:nvPr/>
        </p:nvSpPr>
        <p:spPr>
          <a:xfrm>
            <a:off x="4736592" y="2651760"/>
            <a:ext cx="3694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Fulfillment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36592" y="2862072"/>
            <a:ext cx="3694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flagged accounts’ orders through the most reliable carrier with added dispatch QA checks.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36592" y="3182112"/>
            <a:ext cx="36941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Fulfillment priority queue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0" y="3520440"/>
            <a:ext cx="4023360" cy="978408"/>
          </a:xfrm>
          <a:prstGeom prst="roundRect">
            <a:avLst>
              <a:gd name="adj" fmla="val 6542"/>
            </a:avLst>
          </a:prstGeom>
          <a:solidFill>
            <a:srgbClr val="1B2A4A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73168" y="3666744"/>
            <a:ext cx="3621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9F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73168" y="3959352"/>
            <a:ext cx="3621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the repeat-failure rate among flagged accounts in half within 6 months — protecting an estimated $118K+ of the $236K exposure.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45765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PT. Boga Nusantara   |   Deleonard Simanjorang   |   2026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458200" y="47320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&amp; RECOMMENDATIONS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#2 — Carrier Performance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6070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reliability gap between carriers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794760" cy="1572768"/>
          </a:xfrm>
          <a:prstGeom prst="roundRect">
            <a:avLst>
              <a:gd name="adj" fmla="val 4070"/>
            </a:avLst>
          </a:prstGeom>
          <a:solidFill>
            <a:srgbClr val="F5F7F9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545336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RECAP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1819656"/>
            <a:ext cx="34290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8000"/>
              </a:lnSpc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Shipping: 3.5% late (best)</a:t>
            </a:r>
            <a:endParaRPr lang="en-US" sz="1050" dirty="0"/>
          </a:p>
          <a:p>
            <a:pPr algn="l" marL="177800" indent="-177800">
              <a:lnSpc>
                <a:spcPct val="108000"/>
              </a:lnSpc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Package: 4.9% late on 39% of volume (highest)</a:t>
            </a:r>
            <a:endParaRPr lang="en-US" sz="1050" dirty="0"/>
          </a:p>
          <a:p>
            <a:pPr algn="l" marL="177800" indent="-177800">
              <a:lnSpc>
                <a:spcPct val="108000"/>
              </a:lnSpc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Speedy Express: 4.8% late, but 45% slower to recover (8.1 vs 5.6 days)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3136392"/>
            <a:ext cx="3794760" cy="1362456"/>
          </a:xfrm>
          <a:prstGeom prst="roundRect">
            <a:avLst>
              <a:gd name="adj" fmla="val 4698"/>
            </a:avLst>
          </a:prstGeom>
          <a:solidFill>
            <a:srgbClr val="FBEAE8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49808" y="3282696"/>
            <a:ext cx="3392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8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IF UNADDRESSED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3575304"/>
            <a:ext cx="339242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8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Package carries the most order volume and the highest late-rate — compounding risk on the business’s single biggest shipping lane.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0" y="141732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0" y="1691640"/>
            <a:ext cx="4023360" cy="786384"/>
          </a:xfrm>
          <a:prstGeom prst="roundRect">
            <a:avLst>
              <a:gd name="adj" fmla="val 6977"/>
            </a:avLst>
          </a:prstGeom>
          <a:solidFill>
            <a:srgbClr val="E7F1F3"/>
          </a:solidFill>
          <a:ln/>
        </p:spPr>
      </p:sp>
      <p:sp>
        <p:nvSpPr>
          <p:cNvPr id="13" name="Text 11"/>
          <p:cNvSpPr/>
          <p:nvPr/>
        </p:nvSpPr>
        <p:spPr>
          <a:xfrm>
            <a:off x="4736592" y="1755648"/>
            <a:ext cx="3694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Scorecard &amp; SLA Review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36592" y="1965960"/>
            <a:ext cx="3694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on-time % and avg. delay days per carrier quarterly; formalize SLA penalty clauses.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36592" y="2286000"/>
            <a:ext cx="36941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Carrier performance scorecard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0" y="2587752"/>
            <a:ext cx="4023360" cy="786384"/>
          </a:xfrm>
          <a:prstGeom prst="roundRect">
            <a:avLst>
              <a:gd name="adj" fmla="val 6977"/>
            </a:avLst>
          </a:prstGeom>
          <a:solidFill>
            <a:srgbClr val="E7F1F3"/>
          </a:solidFill>
          <a:ln/>
        </p:spPr>
      </p:sp>
      <p:sp>
        <p:nvSpPr>
          <p:cNvPr id="17" name="Text 15"/>
          <p:cNvSpPr/>
          <p:nvPr/>
        </p:nvSpPr>
        <p:spPr>
          <a:xfrm>
            <a:off x="4736592" y="2651760"/>
            <a:ext cx="3694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Rebalancing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36592" y="2862072"/>
            <a:ext cx="3694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time-sensitive &amp; at-risk-account orders preferentially through Federal Shipping.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36592" y="3182112"/>
            <a:ext cx="36941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Rules-based carrier routing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0" y="3520440"/>
            <a:ext cx="4023360" cy="978408"/>
          </a:xfrm>
          <a:prstGeom prst="roundRect">
            <a:avLst>
              <a:gd name="adj" fmla="val 6542"/>
            </a:avLst>
          </a:prstGeom>
          <a:solidFill>
            <a:srgbClr val="1B2A4A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73168" y="3666744"/>
            <a:ext cx="3621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9F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73168" y="3959352"/>
            <a:ext cx="3621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the carrier late-rate gap to under 0.5pp and cut average recovery time by 2–3 days within 6 months.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45765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PT. Boga Nusantara   |   Deleonard Simanjorang   |   2026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458200" y="47320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&amp; RECOMMENDATIONS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#3 — Regional Lead Time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6070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realistic promises by region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794760" cy="1572768"/>
          </a:xfrm>
          <a:prstGeom prst="roundRect">
            <a:avLst>
              <a:gd name="adj" fmla="val 4070"/>
            </a:avLst>
          </a:prstGeom>
          <a:solidFill>
            <a:srgbClr val="F5F7F9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545336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HYPOTHESIS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1819656"/>
            <a:ext cx="34290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8000"/>
              </a:lnSpc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H1: Promised windows use average transit time, not region-specific variability</a:t>
            </a:r>
            <a:endParaRPr lang="en-US" sz="1050" dirty="0"/>
          </a:p>
          <a:p>
            <a:pPr algn="l" marL="177800" indent="-177800">
              <a:lnSpc>
                <a:spcPct val="108000"/>
              </a:lnSpc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H2: Same 3 global carriers serve all regions — no local last-mile partners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3136392"/>
            <a:ext cx="3794760" cy="1362456"/>
          </a:xfrm>
          <a:prstGeom prst="roundRect">
            <a:avLst>
              <a:gd name="adj" fmla="val 4698"/>
            </a:avLst>
          </a:prstGeom>
          <a:solidFill>
            <a:srgbClr val="FBEAE8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49808" y="3282696"/>
            <a:ext cx="3392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8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IF UNADDRESSED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3575304"/>
            <a:ext cx="339242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8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in South America &amp; select EU markets keep receiving unrealistic delivery promises — denting trust even when delays are outside direct control.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0" y="141732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0" y="1691640"/>
            <a:ext cx="4023360" cy="786384"/>
          </a:xfrm>
          <a:prstGeom prst="roundRect">
            <a:avLst>
              <a:gd name="adj" fmla="val 6977"/>
            </a:avLst>
          </a:prstGeom>
          <a:solidFill>
            <a:srgbClr val="E7F1F3"/>
          </a:solidFill>
          <a:ln/>
        </p:spPr>
      </p:sp>
      <p:sp>
        <p:nvSpPr>
          <p:cNvPr id="13" name="Text 11"/>
          <p:cNvSpPr/>
          <p:nvPr/>
        </p:nvSpPr>
        <p:spPr>
          <a:xfrm>
            <a:off x="4736592" y="1755648"/>
            <a:ext cx="3694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Root Cause First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36592" y="1965960"/>
            <a:ext cx="3694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carrier transit logs &amp; customs data for South American shipments.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36592" y="2286000"/>
            <a:ext cx="36941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Carrier transit-time audit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0" y="2587752"/>
            <a:ext cx="4023360" cy="786384"/>
          </a:xfrm>
          <a:prstGeom prst="roundRect">
            <a:avLst>
              <a:gd name="adj" fmla="val 6977"/>
            </a:avLst>
          </a:prstGeom>
          <a:solidFill>
            <a:srgbClr val="E7F1F3"/>
          </a:solidFill>
          <a:ln/>
        </p:spPr>
      </p:sp>
      <p:sp>
        <p:nvSpPr>
          <p:cNvPr id="17" name="Text 15"/>
          <p:cNvSpPr/>
          <p:nvPr/>
        </p:nvSpPr>
        <p:spPr>
          <a:xfrm>
            <a:off x="4736592" y="2651760"/>
            <a:ext cx="3694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Region-Adjusted Lead Times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36592" y="2862072"/>
            <a:ext cx="3694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region-specific buffers into promised dates; evaluate local partners for South America.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36592" y="3182112"/>
            <a:ext cx="36941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Region-adjusted lead-time model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0" y="3520440"/>
            <a:ext cx="4023360" cy="978408"/>
          </a:xfrm>
          <a:prstGeom prst="roundRect">
            <a:avLst>
              <a:gd name="adj" fmla="val 6542"/>
            </a:avLst>
          </a:prstGeom>
          <a:solidFill>
            <a:srgbClr val="1B2A4A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73168" y="3666744"/>
            <a:ext cx="3621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9F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73168" y="3959352"/>
            <a:ext cx="3621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South America’s average delay severity from 11.2 to under 7 days within 6 months.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45765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PT. Boga Nusantara   |   Deleonard Simanjorang   |   2026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458200" y="47320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914400"/>
            <a:ext cx="2560320" cy="2560320"/>
          </a:xfrm>
          <a:prstGeom prst="ellipse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320040"/>
            <a:ext cx="1234440" cy="123444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502920"/>
            <a:ext cx="502920" cy="50292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188720" y="3680460"/>
            <a:ext cx="2377440" cy="2377440"/>
          </a:xfrm>
          <a:prstGeom prst="ellipse">
            <a:avLst/>
          </a:prstGeom>
          <a:solidFill>
            <a:srgbClr val="1C7293">
              <a:alpha val="1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288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9F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ANALYTICS PROJECT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Next Steps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48640" y="45765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F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PT. Boga Nusantara   |   Deleonard Simanjorang   |   2026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458200" y="47320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Next Steps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8046720" cy="1417320"/>
          </a:xfrm>
          <a:prstGeom prst="roundRect">
            <a:avLst>
              <a:gd name="adj" fmla="val 4516"/>
            </a:avLst>
          </a:prstGeom>
          <a:solidFill>
            <a:srgbClr val="F5F7F9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4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536192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Boga Nusantara delivers 93.0% of orders on time — solid, but short of the 95%+ benchmark, with risk heavily concentrated in 13 repeat-affected accounts worth $236K/year. Three targeted interventions are projected to raise on-time delivery to 96%+ within 6 months, protecting the majority of that exposed revenue.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8046720" cy="1097280"/>
          </a:xfrm>
          <a:prstGeom prst="roundRect">
            <a:avLst>
              <a:gd name="adj" fmla="val 5833"/>
            </a:avLst>
          </a:prstGeom>
          <a:solidFill>
            <a:srgbClr val="1B2A4A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3163824"/>
            <a:ext cx="7644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9F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ROI?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49808" y="3456432"/>
            <a:ext cx="76443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on-time delivery 93% → 96%+     |     Protect ~$118K+ in at-risk revenue     |     Monitored via Dashboard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5765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PT. Boga Nusantara   |   Deleonard Simanjorang   |   2026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458200" y="47320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914400"/>
            <a:ext cx="2560320" cy="2560320"/>
          </a:xfrm>
          <a:prstGeom prst="ellipse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320040"/>
            <a:ext cx="1234440" cy="123444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502920"/>
            <a:ext cx="502920" cy="50292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3716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77240" y="2633472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532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&amp; Phone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2788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+62 812 4154 4992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329184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1912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34472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Deleonard Simanjorang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3950208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38496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41056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deleonard20@gmail.com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45765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F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PT. Boga Nusantara   |   Deleonard Simanjorang   |   2026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914400"/>
            <a:ext cx="2560320" cy="2560320"/>
          </a:xfrm>
          <a:prstGeom prst="ellipse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320040"/>
            <a:ext cx="1234440" cy="123444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502920"/>
            <a:ext cx="502920" cy="50292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188720" y="3680460"/>
            <a:ext cx="2377440" cy="2377440"/>
          </a:xfrm>
          <a:prstGeom prst="ellipse">
            <a:avLst/>
          </a:prstGeom>
          <a:solidFill>
            <a:srgbClr val="1C7293">
              <a:alpha val="1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288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9F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ANALYTICS PROJECT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48640" y="45765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F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PT. Boga Nusantara   |   Deleonard Simanjorang   |   2026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458200" y="47320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A — References &amp; Data Source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046720" cy="1417320"/>
          </a:xfrm>
          <a:prstGeom prst="roundRect">
            <a:avLst>
              <a:gd name="adj" fmla="val 4516"/>
            </a:avLst>
          </a:prstGeom>
          <a:solidFill>
            <a:srgbClr val="F5F7F9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4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49808" y="1563624"/>
            <a:ext cx="7644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49808" y="1856232"/>
            <a:ext cx="764438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Traders sample B2B order &amp; shipment dataset (a widely used dataset for SQL/BI training), extended with derived fields (net sales, freight allocation, shipping status) and reframed under a fictional distributor identity for this case study.</a:t>
            </a:r>
            <a:endParaRPr lang="en-US" sz="11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Orders: 830 (2,155 lines)  |  Customers: 89  |  Carriers: 3  |  Countries: 21  |  Period: Dec 2023–Oct 2025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29992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BENCHMARK REFERENCES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329184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Service Club (2025) “On-Time Delivery Rate Benchmarks” → distribution ‘good’ tier: 93–95%; ‘excellent’: 95%+</a:t>
            </a:r>
            <a:endParaRPr lang="en-US" sz="1150" dirty="0"/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MetricHQ, “On-Time Delivery (OTD)” → cross-sector performance tier reference</a:t>
            </a:r>
            <a:endParaRPr lang="en-US" sz="1150" dirty="0"/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Rivo, B2B Customer Retention Research (2026) → up to 50% of B2B buyers switch vendors after poor service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45765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PT. Boga Nusantara   |   Deleonard Simanjorang   |   2026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458200" y="47320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B — Key SQL Queries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MySQL-style queries used for analysis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931920" cy="1600200"/>
          </a:xfrm>
          <a:prstGeom prst="roundRect">
            <a:avLst>
              <a:gd name="adj" fmla="val 3429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25400" dir="5400000">
              <a:srgbClr val="1A1A2E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94944" y="1490472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9F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Overall on-time / late / pending rate (order level)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94944" y="1691640"/>
            <a:ext cx="36393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ship_status,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COUNT(DISTINCT order_id) AS total_orders,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ROUND(COUNT(DISTINCT order_id) * 100.0 /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SUM(COUNT(DISTINCT order_id)) OVER(), 2)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 pct_of_orders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orders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ship_status;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663440" y="1417320"/>
            <a:ext cx="3931920" cy="1600200"/>
          </a:xfrm>
          <a:prstGeom prst="roundRect">
            <a:avLst>
              <a:gd name="adj" fmla="val 3429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25400" dir="5400000">
              <a:srgbClr val="1A1A2E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09744" y="1490472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9F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Late rate by shipping carrier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809744" y="1691640"/>
            <a:ext cx="36393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shipper_name,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COUNT(*) AS total_orders,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ROUND(AVG(ship_status='Late')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* 100, 2) AS late_rate_pct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orders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shipper_name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late_rate_pct DESC;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8046720" cy="1371600"/>
          </a:xfrm>
          <a:prstGeom prst="roundRect">
            <a:avLst>
              <a:gd name="adj" fmla="val 40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25400" dir="5400000">
              <a:srgbClr val="1A1A2E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94944" y="3255264"/>
            <a:ext cx="7754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9F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Repeat-affected customers (≥ 2 late/pending shipments, ≥ 3 orders)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94944" y="3456432"/>
            <a:ext cx="7754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customer_name, COUNT(*) AS total_orders,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SUM(CASE WHEN ship_status IN ('Late','Pending') THEN 1 ELSE 0 END) AS risk_orders,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SUM(net_sales) AS total_net_sales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orders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customer_name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 COUNT(*) &gt;= 3 AND SUM(CASE WHEN ship_status IN ('Late','Pending') THEN 1 ELSE 0 END) &gt;= 2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total_net_sales DESC;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45765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PT. Boga Nusantara   |   Deleonard Simanjorang   |   2026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458200" y="47320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C — About the Analyst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1371600" cy="13716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286000" y="157276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Deleonard Simanjorang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286000" y="1938528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 |  People &amp; Business Analytics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286000" y="228600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in HR &amp; Business Operations, transitioning into data analytics with a focus on workforce analytics, commercial/operations analytics, and people analytics.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3931920" cy="1554480"/>
          </a:xfrm>
          <a:prstGeom prst="roundRect">
            <a:avLst>
              <a:gd name="adj" fmla="val 4118"/>
            </a:avLst>
          </a:prstGeom>
          <a:solidFill>
            <a:srgbClr val="F5F7F9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49808" y="3209544"/>
            <a:ext cx="3529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SKILLS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3502152"/>
            <a:ext cx="352958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(MySQL, BigQuery)</a:t>
            </a:r>
            <a:endParaRPr lang="en-US" sz="11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· Tableau</a:t>
            </a:r>
            <a:endParaRPr lang="en-US" sz="11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· Data Visualization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3063240"/>
            <a:ext cx="3931920" cy="1554480"/>
          </a:xfrm>
          <a:prstGeom prst="roundRect">
            <a:avLst>
              <a:gd name="adj" fmla="val 4118"/>
            </a:avLst>
          </a:prstGeom>
          <a:solidFill>
            <a:srgbClr val="E7F1F3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64608" y="3209544"/>
            <a:ext cx="3529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0E4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64608" y="3502152"/>
            <a:ext cx="352958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0E4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Analyst — Digital Skola (2026)</a:t>
            </a:r>
            <a:endParaRPr lang="en-US" sz="11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0E4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Data Analytics — RevoU (2025)</a:t>
            </a:r>
            <a:endParaRPr lang="en-US" sz="11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0E4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Excel Mastery — Digital Skola (2026)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45765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PT. Boga Nusantara   |   Deleonard Simanjorang   |   2026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458200" y="47320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Order Fulfillment &amp; Revenue Risk Analysis</dc:title>
  <dc:subject>PptxGenJS Presentation</dc:subject>
  <dc:creator>Deleonard Simanjorang</dc:creator>
  <cp:lastModifiedBy>Deleonard Simanjorang</cp:lastModifiedBy>
  <cp:revision>1</cp:revision>
  <dcterms:created xsi:type="dcterms:W3CDTF">2026-07-14T09:21:27Z</dcterms:created>
  <dcterms:modified xsi:type="dcterms:W3CDTF">2026-07-14T09:21:27Z</dcterms:modified>
</cp:coreProperties>
</file>